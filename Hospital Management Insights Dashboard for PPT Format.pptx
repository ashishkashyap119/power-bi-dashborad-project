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93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15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17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016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424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5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6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85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63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97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1498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931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6809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246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003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839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55C8-5593-5EB5-320E-84E7CF65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1F157-006E-B393-10B5-FF93788CF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D97CA-8785-D499-58E0-9B170259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2C4D0-4B9C-0F62-ACB0-4B61AD30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B4D1-704C-69D9-8CB8-543D09C8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47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A2903-8190-41E7-9348-21CBCDC213CE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CE4AD64-BF66-41CA-9A75-5A8668F6F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52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BE652-0861-F8D7-11CD-90144E7DBE3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reflection blurRad="6350" stA="52000" endA="300" endPos="35000" dir="5400000" sy="-100000" algn="bl" rotWithShape="0"/>
          </a:effectLst>
        </p:spPr>
        <p:txBody>
          <a:bodyPr>
            <a:normAutofit/>
          </a:bodyPr>
          <a:lstStyle/>
          <a:p>
            <a:r>
              <a:rPr lang="en-GB" sz="4000" b="1" i="0" u="none" strike="noStrike" kern="10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Slide 1: Title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8959C-693D-141B-F9C8-B1143E48C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Hospital Management Insights Dashboard</a:t>
            </a:r>
          </a:p>
          <a:p>
            <a:r>
              <a:rPr lang="en-GB" b="1" dirty="0"/>
              <a:t>Importance of Improving Healthcare Systems in India</a:t>
            </a:r>
          </a:p>
          <a:p>
            <a:r>
              <a:rPr lang="en-GB" b="1" dirty="0"/>
              <a:t>Presented By:</a:t>
            </a:r>
            <a:r>
              <a:rPr lang="en-GB" dirty="0"/>
              <a:t> Aashish Kashyap</a:t>
            </a:r>
            <a:br>
              <a:rPr lang="en-GB" dirty="0"/>
            </a:br>
            <a:r>
              <a:rPr lang="en-GB" b="1" dirty="0"/>
              <a:t>Tool Used:</a:t>
            </a:r>
            <a:r>
              <a:rPr lang="en-GB" dirty="0"/>
              <a:t> Power BI Dashboard Analytics</a:t>
            </a:r>
            <a:br>
              <a:rPr lang="en-GB" dirty="0"/>
            </a:br>
            <a:r>
              <a:rPr lang="en-GB" b="1" dirty="0"/>
              <a:t>Focus:</a:t>
            </a:r>
            <a:r>
              <a:rPr lang="en-GB" dirty="0"/>
              <a:t> Healthcare accessibility, insurance, financial burden, and system improvement.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3131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E426-E19D-9CBE-8651-79DC40DF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kern="100" dirty="0">
                <a:solidFill>
                  <a:srgbClr val="000000"/>
                </a:solidFill>
                <a:latin typeface="Calibri" panose="020F0502020204030204" pitchFamily="34" charset="0"/>
              </a:rPr>
              <a:t>Slide 2: Introduction to India’s Healthcare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2693F-A1F9-A57F-4A70-C1A8B394C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2125267"/>
            <a:ext cx="7886699" cy="3487613"/>
          </a:xfrm>
        </p:spPr>
        <p:txBody>
          <a:bodyPr>
            <a:normAutofit fontScale="85000" lnSpcReduction="20000"/>
          </a:bodyPr>
          <a:lstStyle/>
          <a:p>
            <a:r>
              <a:rPr lang="en-GB" sz="1425" dirty="0"/>
              <a:t>India’s healthcare system is one of the largest globally, serving a massive and diverse population. Despite progress, key challenges remain:</a:t>
            </a:r>
          </a:p>
          <a:p>
            <a:r>
              <a:rPr lang="en-GB" sz="1425" dirty="0"/>
              <a:t>Rising hospital expenses</a:t>
            </a:r>
          </a:p>
          <a:p>
            <a:r>
              <a:rPr lang="en-GB" sz="1425" dirty="0"/>
              <a:t>Unequal healthcare access across states</a:t>
            </a:r>
          </a:p>
          <a:p>
            <a:r>
              <a:rPr lang="en-GB" sz="1425" dirty="0"/>
              <a:t>Insurance coverage gaps</a:t>
            </a:r>
          </a:p>
          <a:p>
            <a:r>
              <a:rPr lang="en-GB" sz="1425" dirty="0"/>
              <a:t>Financial burden on patients</a:t>
            </a:r>
          </a:p>
          <a:p>
            <a:r>
              <a:rPr lang="en-GB" sz="1425" dirty="0"/>
              <a:t>Urban-rural healthcare disparities</a:t>
            </a:r>
          </a:p>
          <a:p>
            <a:r>
              <a:rPr lang="en-GB" sz="1425" b="1" dirty="0">
                <a:latin typeface="Arial" panose="020B0604020202020204" pitchFamily="34" charset="0"/>
                <a:cs typeface="Arial" panose="020B0604020202020204" pitchFamily="34" charset="0"/>
              </a:rPr>
              <a:t>Dashboard Insight:</a:t>
            </a:r>
          </a:p>
          <a:p>
            <a:r>
              <a:rPr lang="en-GB" sz="1425" dirty="0"/>
              <a:t>Total Customers: 2.19K</a:t>
            </a:r>
          </a:p>
          <a:p>
            <a:r>
              <a:rPr lang="en-GB" sz="1425" dirty="0"/>
              <a:t>Total Insured Amount: 4 Billion</a:t>
            </a:r>
          </a:p>
          <a:p>
            <a:r>
              <a:rPr lang="en-GB" sz="1425" dirty="0"/>
              <a:t>Claim Amount: 171.53 Million</a:t>
            </a:r>
          </a:p>
          <a:p>
            <a:r>
              <a:rPr lang="en-GB" sz="1425" dirty="0"/>
              <a:t>Hospital Bill Amount: 175.40 Million</a:t>
            </a:r>
          </a:p>
          <a:p>
            <a:r>
              <a:rPr lang="en-GB" sz="1425" dirty="0"/>
              <a:t>Annual Income Amount: 1.48 Billion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8664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F8A-7672-9C64-0D24-59C354F1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>
                <a:solidFill>
                  <a:srgbClr val="000000"/>
                </a:solidFill>
                <a:latin typeface="Calibri" panose="020F0502020204030204" pitchFamily="34" charset="0"/>
              </a:rPr>
              <a:t>Slide 3: Why Healthcare Improvement is Essential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51B8F-CC31-152B-496A-22A7BB771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ffectLst>
            <a:glow>
              <a:schemeClr val="accent1"/>
            </a:glow>
            <a:outerShdw dist="50800" sx="1000" sy="1000" algn="ctr" rotWithShape="0">
              <a:srgbClr val="000000"/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/>
          <a:p>
            <a:r>
              <a:rPr lang="en-GB" b="1" dirty="0"/>
              <a:t>Major Reasons:</a:t>
            </a:r>
          </a:p>
          <a:p>
            <a:r>
              <a:rPr lang="en-GB" dirty="0"/>
              <a:t>Increasing medical inflation</a:t>
            </a:r>
          </a:p>
          <a:p>
            <a:r>
              <a:rPr lang="en-GB" dirty="0"/>
              <a:t>Growing insurance dependency</a:t>
            </a:r>
          </a:p>
          <a:p>
            <a:r>
              <a:rPr lang="en-GB" dirty="0"/>
              <a:t>Need for better hospital infrastructure</a:t>
            </a:r>
          </a:p>
          <a:p>
            <a:r>
              <a:rPr lang="en-GB" dirty="0"/>
              <a:t>Preventive care gaps</a:t>
            </a:r>
          </a:p>
          <a:p>
            <a:r>
              <a:rPr lang="en-GB" dirty="0"/>
              <a:t>Healthcare affordability concerns</a:t>
            </a:r>
          </a:p>
          <a:p>
            <a:r>
              <a:rPr lang="en-GB" b="1" dirty="0"/>
              <a:t>Dashboard Evidence:</a:t>
            </a:r>
          </a:p>
          <a:p>
            <a:r>
              <a:rPr lang="en-GB" dirty="0"/>
              <a:t>Hospital bill amounts are extremely high compared to annual income patterns, showing the need for stronger healthcare policies.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2079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CE9A-3201-7972-6FD0-F56DBACC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>
                <a:solidFill>
                  <a:srgbClr val="000000"/>
                </a:solidFill>
                <a:latin typeface="Calibri" panose="020F0502020204030204" pitchFamily="34" charset="0"/>
              </a:rPr>
              <a:t>Slide 4: Insurance and Financial Protection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BE092-6354-1156-A6EA-D863A8AC4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Key Dashboard Findings:</a:t>
            </a:r>
          </a:p>
          <a:p>
            <a:r>
              <a:rPr lang="en-GB" dirty="0"/>
              <a:t>Total Claim Amount: 171.53M</a:t>
            </a:r>
          </a:p>
          <a:p>
            <a:r>
              <a:rPr lang="en-GB" dirty="0"/>
              <a:t>Total Hospital Bill: 175.40M</a:t>
            </a:r>
          </a:p>
          <a:p>
            <a:r>
              <a:rPr lang="en-GB" dirty="0"/>
              <a:t>Small difference indicates patients still bear high direct costs.</a:t>
            </a:r>
          </a:p>
          <a:p>
            <a:r>
              <a:rPr lang="en-GB" b="1" dirty="0"/>
              <a:t>Importance:</a:t>
            </a:r>
          </a:p>
          <a:p>
            <a:r>
              <a:rPr lang="en-GB" dirty="0"/>
              <a:t>Expand affordable insurance</a:t>
            </a:r>
          </a:p>
          <a:p>
            <a:r>
              <a:rPr lang="en-GB" dirty="0"/>
              <a:t>Improve claim settlement systems</a:t>
            </a:r>
          </a:p>
          <a:p>
            <a:r>
              <a:rPr lang="en-GB" dirty="0"/>
              <a:t>Increase cashless healthcare services</a:t>
            </a:r>
          </a:p>
          <a:p>
            <a:r>
              <a:rPr lang="en-GB" dirty="0"/>
              <a:t>Strengthen public-private healthcare partnerships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03893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055A-87F6-75D9-FF83-E3ED5C58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>
                <a:solidFill>
                  <a:srgbClr val="000000"/>
                </a:solidFill>
                <a:latin typeface="Calibri" panose="020F0502020204030204" pitchFamily="34" charset="0"/>
              </a:rPr>
              <a:t>Slide 5: State-Wise Healthcare Burden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DD9AA-98D0-7250-8123-E23548BBE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High Claim States:</a:t>
            </a:r>
          </a:p>
          <a:p>
            <a:r>
              <a:rPr lang="en-GB" dirty="0"/>
              <a:t>Uttar Pradesh</a:t>
            </a:r>
          </a:p>
          <a:p>
            <a:r>
              <a:rPr lang="en-GB" dirty="0"/>
              <a:t>Tamil Nadu</a:t>
            </a:r>
          </a:p>
          <a:p>
            <a:r>
              <a:rPr lang="en-GB" dirty="0"/>
              <a:t>Karnataka</a:t>
            </a:r>
          </a:p>
          <a:p>
            <a:r>
              <a:rPr lang="en-GB" dirty="0"/>
              <a:t>Delhi</a:t>
            </a:r>
          </a:p>
          <a:p>
            <a:r>
              <a:rPr lang="en-GB" dirty="0"/>
              <a:t>West Bengal</a:t>
            </a:r>
          </a:p>
          <a:p>
            <a:r>
              <a:rPr lang="en-GB" dirty="0"/>
              <a:t>Maharashtra</a:t>
            </a:r>
          </a:p>
          <a:p>
            <a:r>
              <a:rPr lang="en-GB" b="1" dirty="0"/>
              <a:t>Insight:</a:t>
            </a:r>
          </a:p>
          <a:p>
            <a:r>
              <a:rPr lang="en-GB" dirty="0"/>
              <a:t>States with large populations experience heavier healthcare claims, </a:t>
            </a:r>
            <a:r>
              <a:rPr lang="en-GB" dirty="0" err="1"/>
              <a:t>signaling</a:t>
            </a:r>
            <a:r>
              <a:rPr lang="en-GB" dirty="0"/>
              <a:t>:</a:t>
            </a:r>
          </a:p>
          <a:p>
            <a:r>
              <a:rPr lang="en-GB" dirty="0"/>
              <a:t>Greater disease burden</a:t>
            </a:r>
          </a:p>
          <a:p>
            <a:r>
              <a:rPr lang="en-GB" dirty="0"/>
              <a:t>Hospital dependency</a:t>
            </a:r>
          </a:p>
          <a:p>
            <a:r>
              <a:rPr lang="en-GB" dirty="0"/>
              <a:t>Need for regional healthcare strengthening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8936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A4002-3C7E-E15F-1B99-8D87B5F3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>
                <a:solidFill>
                  <a:srgbClr val="000000"/>
                </a:solidFill>
                <a:latin typeface="Calibri" panose="020F0502020204030204" pitchFamily="34" charset="0"/>
              </a:rPr>
              <a:t>Slide 6: City-Wise Insurance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76E70-954B-6F07-B5F8-EE07C0CC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Top Cities by Insured Amount:</a:t>
            </a:r>
          </a:p>
          <a:p>
            <a:r>
              <a:rPr lang="en-GB" dirty="0"/>
              <a:t>New Delhi</a:t>
            </a:r>
          </a:p>
          <a:p>
            <a:r>
              <a:rPr lang="en-GB" dirty="0"/>
              <a:t>Kolkata</a:t>
            </a:r>
          </a:p>
          <a:p>
            <a:r>
              <a:rPr lang="en-GB" dirty="0"/>
              <a:t>Coimbatore</a:t>
            </a:r>
          </a:p>
          <a:p>
            <a:r>
              <a:rPr lang="en-GB" dirty="0"/>
              <a:t>Mysuru</a:t>
            </a:r>
          </a:p>
          <a:p>
            <a:r>
              <a:rPr lang="en-GB" dirty="0"/>
              <a:t>Chennai</a:t>
            </a:r>
          </a:p>
          <a:p>
            <a:r>
              <a:rPr lang="en-GB" dirty="0"/>
              <a:t>Bengaluru</a:t>
            </a:r>
          </a:p>
          <a:p>
            <a:r>
              <a:rPr lang="en-GB" b="1" dirty="0"/>
              <a:t>Importance:</a:t>
            </a:r>
          </a:p>
          <a:p>
            <a:r>
              <a:rPr lang="en-GB" dirty="0"/>
              <a:t>Urban </a:t>
            </a:r>
            <a:r>
              <a:rPr lang="en-GB" dirty="0" err="1"/>
              <a:t>centers</a:t>
            </a:r>
            <a:r>
              <a:rPr lang="en-GB" dirty="0"/>
              <a:t> receive better insurance access, while smaller cities need:</a:t>
            </a:r>
          </a:p>
          <a:p>
            <a:r>
              <a:rPr lang="en-GB" dirty="0"/>
              <a:t>More hospitals</a:t>
            </a:r>
          </a:p>
          <a:p>
            <a:r>
              <a:rPr lang="en-GB" dirty="0"/>
              <a:t>Insurance awareness</a:t>
            </a:r>
          </a:p>
          <a:p>
            <a:r>
              <a:rPr lang="en-GB" dirty="0"/>
              <a:t>Healthcare investment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07795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59D2-4C78-7B0C-D56A-61E210C2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>
                <a:solidFill>
                  <a:srgbClr val="000000"/>
                </a:solidFill>
                <a:latin typeface="Calibri" panose="020F0502020204030204" pitchFamily="34" charset="0"/>
              </a:rPr>
              <a:t>Slide 7: Gender-Based Healthcare Spending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535B0-FD7C-7F4A-3784-E379DB72D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Dashboard Analysis:</a:t>
            </a:r>
          </a:p>
          <a:p>
            <a:r>
              <a:rPr lang="en-GB" dirty="0"/>
              <a:t>Male: 57.26%</a:t>
            </a:r>
          </a:p>
          <a:p>
            <a:r>
              <a:rPr lang="en-GB" dirty="0"/>
              <a:t>Female: 42.74%</a:t>
            </a:r>
          </a:p>
          <a:p>
            <a:r>
              <a:rPr lang="en-GB" b="1" dirty="0"/>
              <a:t>Implication:</a:t>
            </a:r>
          </a:p>
          <a:p>
            <a:r>
              <a:rPr lang="en-GB" dirty="0"/>
              <a:t>Gender disparity in healthcare utilization</a:t>
            </a:r>
          </a:p>
          <a:p>
            <a:r>
              <a:rPr lang="en-GB" dirty="0"/>
              <a:t>Need for women-focused healthcare programs</a:t>
            </a:r>
          </a:p>
          <a:p>
            <a:r>
              <a:rPr lang="en-GB" dirty="0"/>
              <a:t>Improved maternal and preventive care systems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3651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 invX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AFB9-AC9F-EDAB-6126-BCEE9E0C6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>
                <a:solidFill>
                  <a:srgbClr val="000000"/>
                </a:solidFill>
                <a:latin typeface="Calibri" panose="020F0502020204030204" pitchFamily="34" charset="0"/>
              </a:rPr>
              <a:t>Slide 8: Occupation-Based Hospital Spending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2E518-8FA7-3169-BCD4-F8F7AEC7D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High Spending Groups:</a:t>
            </a:r>
          </a:p>
          <a:p>
            <a:r>
              <a:rPr lang="en-GB" dirty="0"/>
              <a:t>Salaried</a:t>
            </a:r>
          </a:p>
          <a:p>
            <a:r>
              <a:rPr lang="en-GB" dirty="0"/>
              <a:t>Business</a:t>
            </a:r>
          </a:p>
          <a:p>
            <a:r>
              <a:rPr lang="en-GB" dirty="0"/>
              <a:t>Self-employed</a:t>
            </a:r>
          </a:p>
          <a:p>
            <a:r>
              <a:rPr lang="en-GB" dirty="0"/>
              <a:t>Retired</a:t>
            </a:r>
          </a:p>
          <a:p>
            <a:r>
              <a:rPr lang="en-GB" b="1" dirty="0"/>
              <a:t>Insights:</a:t>
            </a:r>
          </a:p>
          <a:p>
            <a:r>
              <a:rPr lang="en-GB" dirty="0"/>
              <a:t>Employment type influences healthcare affordability.</a:t>
            </a:r>
          </a:p>
          <a:p>
            <a:r>
              <a:rPr lang="en-GB" b="1" dirty="0"/>
              <a:t>Recommendation:</a:t>
            </a:r>
          </a:p>
          <a:p>
            <a:r>
              <a:rPr lang="en-GB" dirty="0"/>
              <a:t>Employer insurance expansion</a:t>
            </a:r>
          </a:p>
          <a:p>
            <a:r>
              <a:rPr lang="en-GB" dirty="0"/>
              <a:t>Senior citizen healthcare subsidies</a:t>
            </a:r>
          </a:p>
          <a:p>
            <a:r>
              <a:rPr lang="en-GB" dirty="0"/>
              <a:t>Social insurance for unemployed populations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7877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8EAD-757C-39E4-7BA5-480F93AD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Slide 9: Monthly Claim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8C34D-CDC7-BF17-B6A1-2EB6D564A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Observation:</a:t>
            </a:r>
          </a:p>
          <a:p>
            <a:r>
              <a:rPr lang="en-GB" dirty="0"/>
              <a:t>Claims remain consistently high throughout the year.</a:t>
            </a:r>
          </a:p>
          <a:p>
            <a:r>
              <a:rPr lang="en-GB" b="1" dirty="0"/>
              <a:t>Meaning:</a:t>
            </a:r>
          </a:p>
          <a:p>
            <a:r>
              <a:rPr lang="en-GB" dirty="0"/>
              <a:t>Continuous healthcare demand</a:t>
            </a:r>
          </a:p>
          <a:p>
            <a:r>
              <a:rPr lang="en-GB" dirty="0"/>
              <a:t>Chronic disease burden</a:t>
            </a:r>
          </a:p>
          <a:p>
            <a:r>
              <a:rPr lang="en-GB" dirty="0"/>
              <a:t>Need for year-round system preparedness</a:t>
            </a:r>
          </a:p>
          <a:p>
            <a:r>
              <a:rPr lang="en-GB" b="1" dirty="0"/>
              <a:t>Strategic Focus:</a:t>
            </a:r>
          </a:p>
          <a:p>
            <a:r>
              <a:rPr lang="en-GB" dirty="0"/>
              <a:t>Resource allocation</a:t>
            </a:r>
          </a:p>
          <a:p>
            <a:r>
              <a:rPr lang="en-GB" dirty="0"/>
              <a:t>Hospital staffing optimization</a:t>
            </a:r>
          </a:p>
          <a:p>
            <a:r>
              <a:rPr lang="en-GB" dirty="0"/>
              <a:t>Emergency readiness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4190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1A69-907F-871C-7CD9-AAE8DE1E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Slide 10: Key Challenges in Indian Healthcare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2BEFC-E11E-E134-A949-A15EF3522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Core Issues:</a:t>
            </a:r>
          </a:p>
          <a:p>
            <a:r>
              <a:rPr lang="en-GB" dirty="0"/>
              <a:t>High treatment costs</a:t>
            </a:r>
          </a:p>
          <a:p>
            <a:r>
              <a:rPr lang="en-GB" dirty="0"/>
              <a:t>Unequal healthcare access</a:t>
            </a:r>
          </a:p>
          <a:p>
            <a:r>
              <a:rPr lang="en-GB" dirty="0"/>
              <a:t>Insurance inefficiencies</a:t>
            </a:r>
          </a:p>
          <a:p>
            <a:r>
              <a:rPr lang="en-GB" dirty="0"/>
              <a:t>Workforce shortages</a:t>
            </a:r>
          </a:p>
          <a:p>
            <a:r>
              <a:rPr lang="en-GB" dirty="0"/>
              <a:t>Infrastructure limitations</a:t>
            </a:r>
          </a:p>
          <a:p>
            <a:r>
              <a:rPr lang="en-GB" dirty="0"/>
              <a:t>Preventive care weaknesses</a:t>
            </a:r>
          </a:p>
          <a:p>
            <a:r>
              <a:rPr lang="en-GB" b="1" dirty="0"/>
              <a:t>Dashboard Reflection:</a:t>
            </a:r>
          </a:p>
          <a:p>
            <a:r>
              <a:rPr lang="en-GB" dirty="0"/>
              <a:t>Financial and operational pressure is clearly visible through billing and claim patterns.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171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AA8D-073F-4B35-48A3-B38300C6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Slide 11: Strategic Solutions for Improvement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08119-3598-8273-1757-A3A4D7B49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Recommended Actions:</a:t>
            </a:r>
          </a:p>
          <a:p>
            <a:r>
              <a:rPr lang="en-GB" dirty="0"/>
              <a:t>Expand Ayushman Bharat-like insurance programs</a:t>
            </a:r>
          </a:p>
          <a:p>
            <a:r>
              <a:rPr lang="en-GB" dirty="0"/>
              <a:t>Strengthen rural healthcare infrastructure</a:t>
            </a:r>
          </a:p>
          <a:p>
            <a:r>
              <a:rPr lang="en-GB" dirty="0"/>
              <a:t>Digitize hospital management systems</a:t>
            </a:r>
          </a:p>
          <a:p>
            <a:r>
              <a:rPr lang="en-GB" dirty="0"/>
              <a:t>Improve insurance processing speed</a:t>
            </a:r>
          </a:p>
          <a:p>
            <a:r>
              <a:rPr lang="en-GB" dirty="0"/>
              <a:t>Increase preventive health campaigns</a:t>
            </a:r>
          </a:p>
          <a:p>
            <a:r>
              <a:rPr lang="en-GB" dirty="0"/>
              <a:t>Use dashboard analytics for policy planning</a:t>
            </a:r>
          </a:p>
          <a:p>
            <a:r>
              <a:rPr lang="en-GB" b="1" dirty="0"/>
              <a:t>Power BI Role:</a:t>
            </a:r>
          </a:p>
          <a:p>
            <a:r>
              <a:rPr lang="en-GB" dirty="0"/>
              <a:t>Data-driven dashboards improve healthcare decisions and policy effectiveness.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5220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18E0-6D51-021B-9EEF-BB14761D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kern="1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Slide 12: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B4BE7-92EC-DFEC-03C5-BC2E1E1B1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Final Message:</a:t>
            </a:r>
          </a:p>
          <a:p>
            <a:r>
              <a:rPr lang="en-GB" dirty="0"/>
              <a:t>Improving India’s healthcare system is critical for:</a:t>
            </a:r>
          </a:p>
          <a:p>
            <a:r>
              <a:rPr lang="en-GB" dirty="0"/>
              <a:t>Better patient outcomes</a:t>
            </a:r>
          </a:p>
          <a:p>
            <a:r>
              <a:rPr lang="en-GB" dirty="0"/>
              <a:t>Lower financial burden</a:t>
            </a:r>
          </a:p>
          <a:p>
            <a:r>
              <a:rPr lang="en-GB" dirty="0"/>
              <a:t>Equal healthcare access</a:t>
            </a:r>
          </a:p>
          <a:p>
            <a:r>
              <a:rPr lang="en-GB" dirty="0"/>
              <a:t>Stronger insurance coverage</a:t>
            </a:r>
          </a:p>
          <a:p>
            <a:r>
              <a:rPr lang="en-GB" dirty="0"/>
              <a:t>Sustainable national development</a:t>
            </a:r>
          </a:p>
          <a:p>
            <a:r>
              <a:rPr lang="en-GB" b="1" dirty="0"/>
              <a:t>Dashboard Conclusion:</a:t>
            </a:r>
          </a:p>
          <a:p>
            <a:r>
              <a:rPr lang="en-GB" dirty="0"/>
              <a:t>Your Hospital Management Insights Dashboard demonstrates how data analytics can identify healthcare gaps and guide better reforms.</a:t>
            </a:r>
          </a:p>
          <a:p>
            <a:r>
              <a:rPr lang="en-GB" b="1" dirty="0"/>
              <a:t>“Data-driven healthcare transformation is the future of India.”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797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F1049-1DC4-D597-D111-3DA12817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481" y="534650"/>
            <a:ext cx="6347714" cy="1320800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  <a:sp3d extrusionH="57150">
              <a:bevelT w="69850" h="69850" prst="divot"/>
            </a:sp3d>
          </a:bodyPr>
          <a:lstStyle/>
          <a:p>
            <a:r>
              <a:rPr lang="en-GB" sz="4400" b="1" dirty="0">
                <a:ln/>
                <a:solidFill>
                  <a:schemeClr val="accent4"/>
                </a:solidFill>
              </a:rPr>
              <a:t>Thanks for Watching</a:t>
            </a:r>
            <a:br>
              <a:rPr lang="en-GB" sz="4400" b="1" dirty="0">
                <a:ln/>
                <a:solidFill>
                  <a:schemeClr val="accent4"/>
                </a:solidFill>
              </a:rPr>
            </a:b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7771874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572</Words>
  <Application>Microsoft Office PowerPoint</Application>
  <PresentationFormat>On-screen Show (4:3)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Slide 1: Title Slide</vt:lpstr>
      <vt:lpstr>Slide 2: Introduction to India’s Healthcare System</vt:lpstr>
      <vt:lpstr>Slide 3: Why Healthcare Improvement is Essential</vt:lpstr>
      <vt:lpstr>Slide 4: Insurance and Financial Protection Analysis</vt:lpstr>
      <vt:lpstr>Slide 5: State-Wise Healthcare Burden</vt:lpstr>
      <vt:lpstr>Slide 6: City-Wise Insurance Distribution</vt:lpstr>
      <vt:lpstr>Slide 7: Gender-Based Healthcare Spending</vt:lpstr>
      <vt:lpstr>Slide 8: Occupation-Based Hospital Spending</vt:lpstr>
      <vt:lpstr>Slide 9: Monthly Claim Trends</vt:lpstr>
      <vt:lpstr>Slide 10: Key Challenges in Indian Healthcare</vt:lpstr>
      <vt:lpstr>Slide 11: Strategic Solutions for Improvement</vt:lpstr>
      <vt:lpstr>Slide 12: Conclusion</vt:lpstr>
      <vt:lpstr>Thanks for Watching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Delight.com</dc:creator>
  <cp:lastModifiedBy>Delight.com</cp:lastModifiedBy>
  <cp:revision>2</cp:revision>
  <dcterms:created xsi:type="dcterms:W3CDTF">2026-05-02T11:17:19Z</dcterms:created>
  <dcterms:modified xsi:type="dcterms:W3CDTF">2026-05-02T12:04:49Z</dcterms:modified>
</cp:coreProperties>
</file>